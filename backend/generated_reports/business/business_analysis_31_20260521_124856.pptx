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تطور الإيرادات</c:v>
                </c:pt>
              </c:strCache>
            </c:strRef>
          </c:tx>
          <c:spPr>
            <a:ln w="31750">
              <a:solidFill>
                <a:srgbClr val="0F172A"/>
              </a:solidFill>
            </a:ln>
          </c:spPr>
          <c:cat>
            <c:strRef>
              <c:f>Sheet1!$A$2:$A$7</c:f>
              <c:strCache>
                <c:ptCount val="6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18500.0</c:v>
                </c:pt>
                <c:pt idx="1">
                  <c:v>20100.0</c:v>
                </c:pt>
                <c:pt idx="2">
                  <c:v>23600.0</c:v>
                </c:pt>
                <c:pt idx="3">
                  <c:v>22100.0</c:v>
                </c:pt>
                <c:pt idx="4">
                  <c:v>25200.0</c:v>
                </c:pt>
                <c:pt idx="5">
                  <c:v>27800.0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تطور المصاريف</c:v>
                </c:pt>
              </c:strCache>
            </c:strRef>
          </c:tx>
          <c:spPr>
            <a:ln w="31750">
              <a:solidFill>
                <a:srgbClr val="0F172A"/>
              </a:solidFill>
            </a:ln>
          </c:spPr>
          <c:cat>
            <c:strRef>
              <c:f>Sheet1!$A$2:$A$7</c:f>
              <c:strCache>
                <c:ptCount val="6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13100.0</c:v>
                </c:pt>
                <c:pt idx="1">
                  <c:v>14200.0</c:v>
                </c:pt>
                <c:pt idx="2">
                  <c:v>15500.0</c:v>
                </c:pt>
                <c:pt idx="3">
                  <c:v>16950.0</c:v>
                </c:pt>
                <c:pt idx="4">
                  <c:v>18700.0</c:v>
                </c:pt>
                <c:pt idx="5">
                  <c:v>20200.0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تطور الأرباح</c:v>
                </c:pt>
              </c:strCache>
            </c:strRef>
          </c:tx>
          <c:spPr>
            <a:ln w="31750">
              <a:solidFill>
                <a:srgbClr val="0F172A"/>
              </a:solidFill>
            </a:ln>
          </c:spPr>
          <c:cat>
            <c:strRef>
              <c:f>Sheet1!$A$2:$A$7</c:f>
              <c:strCache>
                <c:ptCount val="6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5400.0</c:v>
                </c:pt>
                <c:pt idx="1">
                  <c:v>5900.0</c:v>
                </c:pt>
                <c:pt idx="2">
                  <c:v>8100.0</c:v>
                </c:pt>
                <c:pt idx="3">
                  <c:v>5150.0</c:v>
                </c:pt>
                <c:pt idx="4">
                  <c:v>6500.0</c:v>
                </c:pt>
                <c:pt idx="5">
                  <c:v>7600.0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تطور التدفق النقدي</c:v>
                </c:pt>
              </c:strCache>
            </c:strRef>
          </c:tx>
          <c:spPr>
            <a:ln w="31750">
              <a:solidFill>
                <a:srgbClr val="0F172A"/>
              </a:solidFill>
            </a:ln>
          </c:spPr>
          <c:cat>
            <c:strRef>
              <c:f>Sheet1!$A$2:$A$7</c:f>
              <c:strCache>
                <c:ptCount val="6"/>
                <c:pt idx="0">
                  <c:v>2025-01</c:v>
                </c:pt>
                <c:pt idx="1">
                  <c:v>2025-02</c:v>
                </c:pt>
                <c:pt idx="2">
                  <c:v>2025-03</c:v>
                </c:pt>
                <c:pt idx="3">
                  <c:v>2025-04</c:v>
                </c:pt>
                <c:pt idx="4">
                  <c:v>2025-05</c:v>
                </c:pt>
                <c:pt idx="5">
                  <c:v>2025-06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5400.0</c:v>
                </c:pt>
                <c:pt idx="1">
                  <c:v>5900.0</c:v>
                </c:pt>
                <c:pt idx="2">
                  <c:v>8100.0</c:v>
                </c:pt>
                <c:pt idx="3">
                  <c:v>5150.0</c:v>
                </c:pt>
                <c:pt idx="4">
                  <c:v>6500.0</c:v>
                </c:pt>
                <c:pt idx="5">
                  <c:v>7600.0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502920"/>
            <a:ext cx="2377440" cy="329184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27432" bIns="18288"/>
          <a:lstStyle/>
          <a:p>
            <a:pPr algn="ctr"/>
            <a:r>
              <a:rPr b="1" sz="800">
                <a:solidFill>
                  <a:srgbClr val="059669"/>
                </a:solidFill>
                <a:latin typeface="Arial"/>
              </a:rPr>
              <a:t>تحليل موثوق بالبيانات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77724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3400" b="1">
                <a:solidFill>
                  <a:srgbClr val="0F172A"/>
                </a:solidFill>
                <a:latin typeface="Arial"/>
              </a:rPr>
              <a:t>تقرير تنفيذي للأعمال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75895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500" b="0">
                <a:solidFill>
                  <a:srgbClr val="64748B"/>
                </a:solidFill>
                <a:latin typeface="Arial"/>
              </a:rPr>
              <a:t>عرض أعمال جاهز لمجلس الإدارة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694944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تم الإنشاء في: 2026-05-21 12:48 UTC
الملف المصدر: runexa_business_test_ecommerce_saas.csv
نوع النشاط: SaaS / اشتراك
العملة: USD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58200" y="1143000"/>
            <a:ext cx="3017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22792" y="1271016"/>
            <a:ext cx="2688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صحة الأعمال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22792" y="1581912"/>
            <a:ext cx="268833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59669"/>
                </a:solidFill>
                <a:latin typeface="Arial"/>
              </a:rPr>
              <a:t>73/100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2514600"/>
            <a:ext cx="3017520" cy="1143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22792" y="2642616"/>
            <a:ext cx="268833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نوع النشاط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22792" y="2953512"/>
            <a:ext cx="268833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Arial"/>
              </a:rPr>
              <a:t>SaaS / اشتراك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الملخص التنفيذي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43000"/>
            <a:ext cx="10698480" cy="18745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400" b="0">
                <a:solidFill>
                  <a:srgbClr val="0F172A"/>
                </a:solidFill>
                <a:latin typeface="Arial"/>
              </a:rPr>
              <a:t>يوضح تحليل SaaS / اشتراك إيرادات قدرها 137300.0، وربحًا قدره 38650.0، وهامش ربح قدره 28.15%. نمو الإيرادات هو 10.32% والتدفق النقدي إيجابي. درجة صحة النشاط من النظام الخلفي هي 73/100 (صحي). يصنف محرك الشذوذ الوضع الحالي على أنه حرج. معدل فقدان العملاء مرتفع عند 28.65% ويجب التعامل معه كأولوية.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3383280"/>
            <a:ext cx="5029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600" b="1">
                <a:solidFill>
                  <a:srgbClr val="D97706"/>
                </a:solidFill>
                <a:latin typeface="Arial"/>
              </a:rPr>
              <a:t>القرار الأولوي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1069848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700" b="1">
                <a:solidFill>
                  <a:srgbClr val="0F172A"/>
                </a:solidFill>
                <a:latin typeface="Arial"/>
              </a:rPr>
              <a:t>إعطاء الأولوية للاحتفاظ بالعملاء قبل توسيع الاكتساب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43400"/>
            <a:ext cx="106984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ارتفاع فقدان العملاء يقلل جودة النمو وقد يجعل إنفاق الاكتساب أقل كفاءة. اكتشف النظام الخلفي معدل فقدان العملاء = 28.65.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المؤشرات الأساسية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الإيرادات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59669"/>
                </a:solidFill>
                <a:latin typeface="Arial"/>
              </a:rPr>
              <a:t>137,300 $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المصاريف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D97706"/>
                </a:solidFill>
                <a:latin typeface="Arial"/>
              </a:rPr>
              <a:t>98,650 $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الأرباح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59669"/>
                </a:solidFill>
                <a:latin typeface="Arial"/>
              </a:rPr>
              <a:t>38,650 $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الهامش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F172A"/>
                </a:solidFill>
                <a:latin typeface="Arial"/>
              </a:rPr>
              <a:t>28.15%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النمو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Arial"/>
              </a:rPr>
              <a:t>10.32%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التدفق النقدي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59669"/>
                </a:solidFill>
                <a:latin typeface="Arial"/>
              </a:rPr>
              <a:t>إيجابي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الاتجاهات المالية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5029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Arial"/>
              </a:rPr>
              <a:t>تطور الإيرادات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17320"/>
          <a:ext cx="52578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051560"/>
            <a:ext cx="5029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Arial"/>
              </a:rPr>
              <a:t>تطور المصاريف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417320"/>
          <a:ext cx="52578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الاتجاهات المالية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5029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Arial"/>
              </a:rPr>
              <a:t>تطور الأرباح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417320"/>
          <a:ext cx="525780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309360" y="1051560"/>
            <a:ext cx="5029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200" b="1">
                <a:solidFill>
                  <a:srgbClr val="0F172A"/>
                </a:solidFill>
                <a:latin typeface="Arial"/>
              </a:rPr>
              <a:t>تطور التدفق النقدي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6309360" y="1417320"/>
          <a:ext cx="5257800" cy="4160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التوقعات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إيرادات الشهر القادم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59669"/>
                </a:solidFill>
                <a:latin typeface="Arial"/>
              </a:rPr>
              <a:t>29,752.62 $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إيرادات الربع القادم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Arial"/>
              </a:rPr>
              <a:t>89,257.86 $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الاتجاه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F172A"/>
                </a:solidFill>
                <a:latin typeface="Arial"/>
              </a:rPr>
              <a:t>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مخاطر التدفق النقدي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D97706"/>
                </a:solidFill>
                <a:latin typeface="Arial"/>
              </a:rPr>
              <a:t>low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88036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07992" y="300837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التقلب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7992" y="331927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D97706"/>
                </a:solidFill>
                <a:latin typeface="Arial"/>
              </a:rPr>
              <a:t>متوسط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1069848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100" b="0">
                <a:solidFill>
                  <a:srgbClr val="64748B"/>
                </a:solidFill>
                <a:latin typeface="Arial"/>
              </a:rPr>
              <a:t>تعتمد التوقعات على الإيرادات الشهرية الأخيرة، ونمو محدود، ومتوسط مرجح محافظ. يجب اعتبارها اتجاهية وليست مضمونة.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أهم المخاطر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معدل فقدان العملاء مرتفع.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ارتفاع فقدان العملاء يقلل جودة النمو وقد يجعل إنفاق الاكتساب أقل كفاءة.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أهم الفرص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تحسين الاحتفاظ بالعملاء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تقليل فقدان العملاء يمكن أن يحسن جودة الإيرادات المتكررة وقيمة العميل وكفاءة النمو.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توسيع الاكتساب الفعال بحذر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عائد الإنفاق الإعلاني وكفاءة تكلفة اكتساب العميل في وضع صحي، مما يشير إلى إمكانية توسيع الاكتساب مع المراقبة.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استخدام الربحية الصحية لتمويل نمو مركز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النشاط يجمع بين النمو وقوة هامش الربح.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النمو والربحية كلاهما إيجابيان.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النشاط ينمو مع الحفاظ على هامش ربح صحي.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تبدو كفاءة التسويق صحية.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عائد الإنفاق الإعلاني ضمن نطاق صحي، مما يشير إلى أن إنفاق الاكتساب يحقق عائدًا.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التوصيات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234440"/>
            <a:ext cx="105156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تحليل أسباب فقدان العملاء وتوقيت الإلغاءات.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ارتفاع فقدان العملاء يقلل جودة النمو وقد يجعل إنفاق الاكتساب أقل كفاءة.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تحسين تهيئة العملاء ومتابعة نجاح العملاء.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ارتفاع فقدان العملاء يقلل جودة النمو وقد يجعل إنفاق الاكتساب أقل كفاءة.</a:t>
            </a:r>
          </a:p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إعطاء الأولوية لتقليل فقدان العملاء قبل زيادة الإنفاق على الاكتساب.</a:t>
            </a:r>
          </a:p>
          <a:p>
            <a:pPr algn="r" lvl="1"/>
            <a:r>
              <a:rPr sz="900">
                <a:solidFill>
                  <a:srgbClr val="64748B"/>
                </a:solidFill>
                <a:latin typeface="Arial"/>
              </a:rPr>
              <a:t>يحسن الاحتفاظ وقيمة العميل واستقرار الإيرادات المتكررة.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772400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2600" b="1">
                <a:solidFill>
                  <a:srgbClr val="0F172A"/>
                </a:solidFill>
                <a:latin typeface="Arial"/>
              </a:rPr>
              <a:t>جودة البيانات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درجة الجودة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59669"/>
                </a:solidFill>
                <a:latin typeface="Arial"/>
              </a:rPr>
              <a:t>100/100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79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ROAS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79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2563EB"/>
                </a:solidFill>
                <a:latin typeface="Arial"/>
              </a:rPr>
              <a:t>3.56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143000"/>
            <a:ext cx="3063240" cy="12344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5592" y="1271016"/>
            <a:ext cx="2734056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Arial"/>
              </a:rPr>
              <a:t>CAC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5592" y="1581912"/>
            <a:ext cx="2734056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800" b="1">
                <a:solidFill>
                  <a:srgbClr val="0F172A"/>
                </a:solidFill>
                <a:latin typeface="Arial"/>
              </a:rPr>
              <a:t>125.73 $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71800"/>
            <a:ext cx="10515600" cy="2468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b="1" sz="1200">
                <a:solidFill>
                  <a:srgbClr val="0F172A"/>
                </a:solidFill>
                <a:latin typeface="Arial"/>
              </a:rPr>
              <a:t>• لم يتم اكتشاف قيود بيانات كبيرة.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36576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4748B"/>
                </a:solidFill>
                <a:latin typeface="Arial"/>
              </a:rPr>
              <a:t>Runexa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