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38404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Runexa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772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4000" b="1">
                <a:solidFill>
                  <a:srgbClr val="FFFFFF"/>
                </a:solidFill>
                <a:latin typeface="Arial"/>
              </a:rPr>
              <a:t>تقرير تنفيذي للأعمال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500" b="0">
                <a:solidFill>
                  <a:srgbClr val="CBD5E1"/>
                </a:solidFill>
                <a:latin typeface="Arial"/>
              </a:rPr>
              <a:t>عرض أعمال جاهز لمجلس الإدارة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6858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تم الإنشاء في: 2026-05-21 14:40 UTC
الملف المصدر: runexa_business_test_ecommerce_saas.csv
نوع النشاط: SaaS / اشتراك
العملة: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50808" y="128930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صحة الأعمال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0808" y="1618488"/>
            <a:ext cx="2432304" cy="612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69748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284378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الإيرادات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317296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2563EB"/>
                </a:solidFill>
                <a:latin typeface="Arial"/>
              </a:rPr>
              <a:t>137,300 $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25196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0808" y="439826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الأرباح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472744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059669"/>
                </a:solidFill>
                <a:latin typeface="Arial"/>
              </a:rPr>
              <a:t>38,650 $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97880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86EFAC"/>
                </a:solidFill>
                <a:latin typeface="Arial"/>
              </a:rPr>
              <a:t>تحليل موثوق بالبيانات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200" b="1">
                <a:solidFill>
                  <a:srgbClr val="0F172A"/>
                </a:solidFill>
                <a:latin typeface="Arial"/>
              </a:rPr>
              <a:t>النشاط ينمو بربحية، لكن جودة الاحتفاظ بالعملاء تحتاج إلى أولوية واضحة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درجة الصحة: 73/100 · نمو الإيرادات: 10.32% · هامش الربح: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6720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4864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6400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rial"/>
              </a:rPr>
              <a:t>الملخص التنفيذي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640080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يوضح تحليل SaaS / اشتراك إيرادات قدرها 137,300 $، وربحًا قدره 38,650 $، وهامش ربح قدره 28.15%. نمو الإيرادات هو 10.32% والتدفق النقدي إيجابي. درجة صحة النشاط من النظام الخلفي هي 73/100 (صحي). يصنف محرك الشذوذ الوضع الحالي على أنه حرج. معدل فقدان العملاء مرتفع عند 28.65% ويجب التعامل معه كأولوية.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572768"/>
            <a:ext cx="37947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572768"/>
            <a:ext cx="54864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719072"/>
            <a:ext cx="3474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D97706"/>
                </a:solidFill>
                <a:latin typeface="Arial"/>
              </a:rPr>
              <a:t>القرار الأولوي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048256"/>
            <a:ext cx="347472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إعطاء الأولوية للاحتفاظ بالعملاء قبل توسيع الاكتساب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05072"/>
            <a:ext cx="103784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 اكتشف النظام الخلفي معدل فقدان العملاء = 28.65.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138928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5138928"/>
            <a:ext cx="54864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5285232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059669"/>
                </a:solidFill>
                <a:latin typeface="Arial"/>
              </a:rPr>
              <a:t>الأثر التنفيذي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614416"/>
            <a:ext cx="2971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حرج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5138928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5138928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5285232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D97706"/>
                </a:solidFill>
                <a:latin typeface="Arial"/>
              </a:rPr>
              <a:t>نقطة متابعة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5614416"/>
            <a:ext cx="2971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منخفض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5138928"/>
            <a:ext cx="3611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5138928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5285232"/>
            <a:ext cx="3291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rial"/>
              </a:rPr>
              <a:t>أولوية الإدارة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5614416"/>
            <a:ext cx="3291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تحليل أسباب فقدان العملاء وتوقيت الإلغاءات.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200" b="1">
                <a:solidFill>
                  <a:srgbClr val="0F172A"/>
                </a:solidFill>
                <a:latin typeface="Arial"/>
              </a:rPr>
              <a:t>المؤشرات المالية تلخص الوضع التشغيلي الحالي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درجة الصحة: 73/100 · نمو الإيرادات: 10.32% · هامش الربح: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الإيرادات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059669"/>
                </a:solidFill>
                <a:latin typeface="Arial"/>
              </a:rPr>
              <a:t>137,300 $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المصاريف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D97706"/>
                </a:solidFill>
                <a:latin typeface="Arial"/>
              </a:rPr>
              <a:t>98,650 $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الأرباح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059669"/>
                </a:solidFill>
                <a:latin typeface="Arial"/>
              </a:rPr>
              <a:t>38,650 $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الهامش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النمو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التدفق النقدي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059669"/>
                </a:solidFill>
                <a:latin typeface="Arial"/>
              </a:rPr>
              <a:t>إيجابي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200" b="1">
                <a:solidFill>
                  <a:srgbClr val="0F172A"/>
                </a:solidFill>
                <a:latin typeface="Arial"/>
              </a:rPr>
              <a:t>زخم الإيرادات يتقدم بوتيرة أقوى من ضغط التكاليف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درجة الصحة: 73/100 · نمو الإيرادات: 10.32% · هامش الربح: 28.15%</a:t>
            </a:r>
          </a:p>
        </p:txBody>
      </p:sp>
      <p:pic>
        <p:nvPicPr>
          <p:cNvPr id="5" name="Picture 4" descr="busines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5349240" cy="3886200"/>
          </a:xfrm>
          <a:prstGeom prst="rect">
            <a:avLst/>
          </a:prstGeom>
        </p:spPr>
      </p:pic>
      <p:pic>
        <p:nvPicPr>
          <p:cNvPr id="6" name="Picture 5" descr="business_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72768"/>
            <a:ext cx="534924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96128"/>
            <a:ext cx="1069848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59612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742432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rial"/>
              </a:rPr>
              <a:t>الأثر التنفيذي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71616"/>
            <a:ext cx="10378440" cy="-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التوقعات تبقى إيجابية إذا استمر الانضباط في التنفيذ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200" b="1">
                <a:solidFill>
                  <a:srgbClr val="0F172A"/>
                </a:solidFill>
                <a:latin typeface="Arial"/>
              </a:rPr>
              <a:t>زخم الإيرادات يتقدم بوتيرة أقوى من ضغط التكاليف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درجة الصحة: 73/100 · نمو الإيرادات: 10.32% · هامش الربح: 28.15%</a:t>
            </a:r>
          </a:p>
        </p:txBody>
      </p:sp>
      <p:pic>
        <p:nvPicPr>
          <p:cNvPr id="5" name="Picture 4" descr="business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5349240" cy="3886200"/>
          </a:xfrm>
          <a:prstGeom prst="rect">
            <a:avLst/>
          </a:prstGeom>
        </p:spPr>
      </p:pic>
      <p:pic>
        <p:nvPicPr>
          <p:cNvPr id="6" name="Picture 5" descr="business_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72768"/>
            <a:ext cx="534924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96128"/>
            <a:ext cx="1069848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59612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742432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rial"/>
              </a:rPr>
              <a:t>الأثر التنفيذي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71616"/>
            <a:ext cx="10378440" cy="-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التوقعات تبقى إيجابية إذا استمر الانضباط في التنفيذ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200" b="1">
                <a:solidFill>
                  <a:srgbClr val="0F172A"/>
                </a:solidFill>
                <a:latin typeface="Arial"/>
              </a:rPr>
              <a:t>زخم الإيرادات يتقدم بوتيرة أقوى من ضغط التكاليف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درجة الصحة: 73/100 · نمو الإيرادات: 10.32% · هامش الربح: 28.15%</a:t>
            </a:r>
          </a:p>
        </p:txBody>
      </p:sp>
      <p:pic>
        <p:nvPicPr>
          <p:cNvPr id="5" name="Picture 4" descr="busines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72768"/>
            <a:ext cx="9921240" cy="3977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596128"/>
            <a:ext cx="1069848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59612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742432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rial"/>
              </a:rPr>
              <a:t>الأثر التنفيذي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6071616"/>
            <a:ext cx="10378440" cy="-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التوقعات تبقى إيجابية إذا استمر الانضباط في التنفيذ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200" b="1">
                <a:solidFill>
                  <a:srgbClr val="0F172A"/>
                </a:solidFill>
                <a:latin typeface="Arial"/>
              </a:rPr>
              <a:t>التوقعات تبقى إيجابية إذا استمر الانضباط في التنفيذ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درجة الصحة: 73/100 · نمو الإيرادات: 10.32% · هامش الربح: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إيرادات الشهر القادم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059669"/>
                </a:solidFill>
                <a:latin typeface="Arial"/>
              </a:rPr>
              <a:t>29,752.62 $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إيرادات الربع القادم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2563EB"/>
                </a:solidFill>
                <a:latin typeface="Arial"/>
              </a:rPr>
              <a:t>89,257.86 $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الاتجاه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0F172A"/>
                </a:solidFill>
                <a:latin typeface="Arial"/>
              </a:rPr>
              <a:t>صاعد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مخاطر التدفق النقدي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D97706"/>
                </a:solidFill>
                <a:latin typeface="Arial"/>
              </a:rPr>
              <a:t>منخفض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التقلب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D97706"/>
                </a:solidFill>
                <a:latin typeface="Arial"/>
              </a:rPr>
              <a:t>متوسط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30368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تعتمد التوقعات على الإيرادات الشهرية الأخيرة، ونمو محدود، ومتوسط مرجح محافظ. يجب اعتبارها اتجاهية وليست مضمونة.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200" b="1">
                <a:solidFill>
                  <a:srgbClr val="0F172A"/>
                </a:solidFill>
                <a:latin typeface="Arial"/>
              </a:rPr>
              <a:t>يجب معالجة المخاطر الرئيسية قبل التوسع القوي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أهم المخاطر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4864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Arial"/>
              </a:rPr>
              <a:t>معدل فقدان العملاء مرتفع.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ارتفاع فقدان العملاء يقلل جودة النمو وقد يجعل إنفاق الاكتساب أقل كفاءة.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200" b="1">
                <a:solidFill>
                  <a:srgbClr val="0F172A"/>
                </a:solidFill>
                <a:latin typeface="Arial"/>
              </a:rPr>
              <a:t>أقوى الفرص تتركز حول روافع نمو محددة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أهم الفرص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059669"/>
                </a:solidFill>
                <a:latin typeface="Arial"/>
              </a:rPr>
              <a:t>تحسين الاحتفاظ بالعملاء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تقليل فقدان العملاء يمكن أن يحسن جودة الإيرادات المتكررة وقيمة العميل وكفاءة النمو.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72768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059669"/>
                </a:solidFill>
                <a:latin typeface="Arial"/>
              </a:rPr>
              <a:t>توسيع الاكتساب الفعال بحذر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عائد الإنفاق الإعلاني وكفاءة تكلفة اكتساب العميل في وضع صحي، مما يشير إلى إمكانية توسيع الاكتساب مع المراقبة.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9300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493008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3931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059669"/>
                </a:solidFill>
                <a:latin typeface="Arial"/>
              </a:rPr>
              <a:t>استخدام الربحية الصحية لتمويل نمو مركز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6849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النشاط يجمع بين النمو وقوة هامش الربح.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9300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493008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63931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059669"/>
                </a:solidFill>
                <a:latin typeface="Arial"/>
              </a:rPr>
              <a:t>النمو والربحية كلاهما إيجابيان.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96849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النشاط ينمو مع الحفاظ على هامش ربح صحي.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200" b="1">
                <a:solidFill>
                  <a:srgbClr val="0F172A"/>
                </a:solidFill>
                <a:latin typeface="Arial"/>
              </a:rPr>
              <a:t>يجب أن تركز الإدارة على القرارات الأعلى أثرًا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التوصيات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rial"/>
              </a:rPr>
              <a:t>تحليل أسباب فقدان العملاء وتوقيت الإلغاءات.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ارتفاع فقدان العملاء يقلل جودة النمو وقد يجعل إنفاق الاكتساب أقل كفاءة.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72768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rial"/>
              </a:rPr>
              <a:t>تحسين تهيئة العملاء ومتابعة نجاح العملاء.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ارتفاع فقدان العملاء يقلل جودة النمو وقد يجعل إنفاق الاكتساب أقل كفاءة.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9300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493008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3931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rial"/>
              </a:rPr>
              <a:t>إعطاء الأولوية لتقليل فقدان العملاء قبل زيادة الإنفاق على الاكتساب.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6849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F172A"/>
                </a:solidFill>
                <a:latin typeface="Arial"/>
              </a:rPr>
              <a:t>يحسن الاحتفاظ وقيمة العميل واستقرار الإيرادات المتكررة.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200" b="1">
                <a:solidFill>
                  <a:srgbClr val="0F172A"/>
                </a:solidFill>
                <a:latin typeface="Arial"/>
              </a:rPr>
              <a:t>التحليل مدعوم بالبيانات ومناسب للمراجعة التنفيذية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جودة البيانات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درجة الجودة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100" b="1">
                <a:solidFill>
                  <a:srgbClr val="0F172A"/>
                </a:solidFill>
                <a:latin typeface="Arial"/>
              </a:rPr>
              <a:t>125.73 $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300">
                <a:solidFill>
                  <a:srgbClr val="0F172A"/>
                </a:solidFill>
                <a:latin typeface="Arial"/>
              </a:rPr>
              <a:t>• لم يتم اكتشاف قيود بيانات كبيرة.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